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65" r:id="rId5"/>
    <p:sldId id="264" r:id="rId6"/>
    <p:sldId id="259" r:id="rId7"/>
    <p:sldId id="260" r:id="rId8"/>
    <p:sldId id="261" r:id="rId9"/>
    <p:sldId id="262" r:id="rId10"/>
    <p:sldId id="263"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0" d="100"/>
          <a:sy n="50" d="100"/>
        </p:scale>
        <p:origin x="1284"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2157802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935251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1065513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C7E4773-0A86-4B9D-9D37-7B2BD12D4AE9}"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2189770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C7E4773-0A86-4B9D-9D37-7B2BD12D4AE9}" type="datetimeFigureOut">
              <a:rPr lang="en-IN" smtClean="0"/>
              <a:t>20-01-2026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3334313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C7E4773-0A86-4B9D-9D37-7B2BD12D4AE9}" type="datetimeFigureOut">
              <a:rPr lang="en-IN" smtClean="0"/>
              <a:t>20-01-2026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20535529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7E4773-0A86-4B9D-9D37-7B2BD12D4AE9}" type="datetimeFigureOut">
              <a:rPr lang="en-IN" smtClean="0"/>
              <a:t>20-01-2026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3636691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7E4773-0A86-4B9D-9D37-7B2BD12D4AE9}"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1500776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C7E4773-0A86-4B9D-9D37-7B2BD12D4AE9}"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2601844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3891403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3A7679C-2762-4C2E-B386-E873CCFC11A2}"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38543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7E4773-0A86-4B9D-9D37-7B2BD12D4AE9}"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42745264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7E4773-0A86-4B9D-9D37-7B2BD12D4AE9}"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A7679C-2762-4C2E-B386-E873CCFC11A2}"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463177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6C7E4773-0A86-4B9D-9D37-7B2BD12D4AE9}" type="datetimeFigureOut">
              <a:rPr lang="en-IN" smtClean="0"/>
              <a:t>20-01-2026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41016665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16805673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7E4773-0A86-4B9D-9D37-7B2BD12D4AE9}" type="datetimeFigureOut">
              <a:rPr lang="en-IN" smtClean="0"/>
              <a:t>20-01-2026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3A7679C-2762-4C2E-B386-E873CCFC11A2}" type="slidenum">
              <a:rPr lang="en-IN" smtClean="0"/>
              <a:t>‹#›</a:t>
            </a:fld>
            <a:endParaRPr lang="en-IN"/>
          </a:p>
        </p:txBody>
      </p:sp>
    </p:spTree>
    <p:extLst>
      <p:ext uri="{BB962C8B-B14F-4D97-AF65-F5344CB8AC3E}">
        <p14:creationId xmlns:p14="http://schemas.microsoft.com/office/powerpoint/2010/main" val="1026216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6C7E4773-0A86-4B9D-9D37-7B2BD12D4AE9}" type="datetimeFigureOut">
              <a:rPr lang="en-IN" smtClean="0"/>
              <a:t>20-01-2026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3A7679C-2762-4C2E-B386-E873CCFC11A2}" type="slidenum">
              <a:rPr lang="en-IN" smtClean="0"/>
              <a:t>‹#›</a:t>
            </a:fld>
            <a:endParaRPr lang="en-IN"/>
          </a:p>
        </p:txBody>
      </p:sp>
    </p:spTree>
    <p:extLst>
      <p:ext uri="{BB962C8B-B14F-4D97-AF65-F5344CB8AC3E}">
        <p14:creationId xmlns:p14="http://schemas.microsoft.com/office/powerpoint/2010/main" val="225556055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03AE25EF-8681-4CB7-C525-2D57D39771A7}"/>
              </a:ext>
            </a:extLst>
          </p:cNvPr>
          <p:cNvSpPr>
            <a:spLocks noGrp="1" noChangeArrowheads="1"/>
          </p:cNvSpPr>
          <p:nvPr>
            <p:ph type="ctrTitle"/>
          </p:nvPr>
        </p:nvSpPr>
        <p:spPr bwMode="auto">
          <a:xfrm>
            <a:off x="633864" y="865236"/>
            <a:ext cx="11418590"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spcAft>
                <a:spcPts val="1000"/>
              </a:spcAft>
              <a:defRPr sz="2000">
                <a:solidFill>
                  <a:srgbClr val="373737"/>
                </a:solidFill>
              </a:defRPr>
            </a:pPr>
            <a:r>
              <a:rPr kumimoji="0" lang="en-US" altLang="en-US" sz="4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Maritime Performance Analytics &amp; Sea-Route Risk Assessment</a:t>
            </a:r>
            <a:b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br>
              <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IN"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lang="en-IN" sz="3200" dirty="0"/>
              <a:t>Internship Project at Flipkart </a:t>
            </a:r>
            <a:r>
              <a:rPr lang="en-IN" sz="3200" dirty="0" err="1"/>
              <a:t>Pvt.</a:t>
            </a:r>
            <a:r>
              <a:rPr lang="en-IN" sz="3200" dirty="0"/>
              <a:t> Ltd</a:t>
            </a:r>
            <a:br>
              <a:rPr lang="en-IN" sz="3200" dirty="0"/>
            </a:br>
            <a:r>
              <a:rPr lang="en-IN" sz="3200" dirty="0"/>
              <a:t>•Presented by: Vajja Sri Nikitha</a:t>
            </a:r>
            <a:br>
              <a:rPr lang="en-IN" sz="3200" dirty="0"/>
            </a:br>
            <a:r>
              <a:rPr lang="en-IN" sz="3200" dirty="0"/>
              <a:t>•Date:-20-1-2026</a:t>
            </a:r>
            <a:br>
              <a:rPr lang="en-IN" sz="4000" dirty="0"/>
            </a:br>
            <a:endParaRPr kumimoji="0" lang="en-US" altLang="en-US" sz="4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5302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445E2-A6B6-AFB0-5368-C5FDFE273D0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Project Overview</a:t>
            </a:r>
          </a:p>
        </p:txBody>
      </p:sp>
      <p:sp>
        <p:nvSpPr>
          <p:cNvPr id="3" name="Content Placeholder 2">
            <a:extLst>
              <a:ext uri="{FF2B5EF4-FFF2-40B4-BE49-F238E27FC236}">
                <a16:creationId xmlns:a16="http://schemas.microsoft.com/office/drawing/2014/main" id="{EBE98A0C-1F99-8D31-536E-939C8019FADC}"/>
              </a:ext>
            </a:extLst>
          </p:cNvPr>
          <p:cNvSpPr>
            <a:spLocks noGrp="1"/>
          </p:cNvSpPr>
          <p:nvPr>
            <p:ph idx="1"/>
          </p:nvPr>
        </p:nvSpPr>
        <p:spPr/>
        <p:txBody>
          <a:bodyPr/>
          <a:lstStyle/>
          <a:p>
            <a:pPr marL="0" indent="0">
              <a:buNone/>
            </a:pP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Goal:</a:t>
            </a:r>
            <a:r>
              <a:rPr lang="en-US" sz="2000" dirty="0">
                <a:latin typeface="Times New Roman" panose="02020603050405020304" pitchFamily="18" charset="0"/>
                <a:cs typeface="Times New Roman" panose="02020603050405020304" pitchFamily="18" charset="0"/>
              </a:rPr>
              <a:t> To build an end-to-end pipeline that integrates ship specs, navigation, weather, and fuel data.</a:t>
            </a:r>
          </a:p>
          <a:p>
            <a:r>
              <a:rPr lang="en-US" sz="2000" b="1" dirty="0">
                <a:latin typeface="Times New Roman" panose="02020603050405020304" pitchFamily="18" charset="0"/>
                <a:cs typeface="Times New Roman" panose="02020603050405020304" pitchFamily="18" charset="0"/>
              </a:rPr>
              <a:t>Key Focus Areas:</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Analyzing weather impact on vessel speed.</a:t>
            </a:r>
          </a:p>
          <a:p>
            <a:pPr lvl="1"/>
            <a:r>
              <a:rPr lang="en-US" sz="2000" dirty="0">
                <a:latin typeface="Times New Roman" panose="02020603050405020304" pitchFamily="18" charset="0"/>
                <a:cs typeface="Times New Roman" panose="02020603050405020304" pitchFamily="18" charset="0"/>
              </a:rPr>
              <a:t>Optimizing fuel consumption vs. load weight.</a:t>
            </a:r>
          </a:p>
          <a:p>
            <a:pPr lvl="1"/>
            <a:r>
              <a:rPr lang="en-US" sz="2000" dirty="0">
                <a:latin typeface="Times New Roman" panose="02020603050405020304" pitchFamily="18" charset="0"/>
                <a:cs typeface="Times New Roman" panose="02020603050405020304" pitchFamily="18" charset="0"/>
              </a:rPr>
              <a:t>Assessing sea-route risks based on environmental conditions.</a:t>
            </a:r>
          </a:p>
          <a:p>
            <a:endParaRPr lang="en-IN" dirty="0"/>
          </a:p>
        </p:txBody>
      </p:sp>
    </p:spTree>
    <p:extLst>
      <p:ext uri="{BB962C8B-B14F-4D97-AF65-F5344CB8AC3E}">
        <p14:creationId xmlns:p14="http://schemas.microsoft.com/office/powerpoint/2010/main" val="3619416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F963-7F7F-0151-1B46-00F07B846FE8}"/>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Data Integration </a:t>
            </a:r>
          </a:p>
        </p:txBody>
      </p:sp>
      <p:sp>
        <p:nvSpPr>
          <p:cNvPr id="4" name="Rectangle 1">
            <a:extLst>
              <a:ext uri="{FF2B5EF4-FFF2-40B4-BE49-F238E27FC236}">
                <a16:creationId xmlns:a16="http://schemas.microsoft.com/office/drawing/2014/main" id="{17DB18F5-CB68-B688-183E-4ABF92A46BB7}"/>
              </a:ext>
            </a:extLst>
          </p:cNvPr>
          <p:cNvSpPr>
            <a:spLocks noGrp="1" noChangeArrowheads="1"/>
          </p:cNvSpPr>
          <p:nvPr>
            <p:ph idx="1"/>
          </p:nvPr>
        </p:nvSpPr>
        <p:spPr bwMode="auto">
          <a:xfrm>
            <a:off x="228600" y="2574040"/>
            <a:ext cx="10896599"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FontTx/>
              <a:buChar char="•"/>
            </a:pPr>
            <a:r>
              <a:rPr lang="en-US" altLang="en-US" sz="3200" b="1" dirty="0">
                <a:solidFill>
                  <a:schemeClr val="tx1"/>
                </a:solidFill>
                <a:latin typeface="Arial" panose="020B0604020202020204" pitchFamily="34" charset="0"/>
              </a:rPr>
              <a:t>Process:</a:t>
            </a:r>
            <a:r>
              <a:rPr lang="en-US" altLang="en-US" sz="3200" dirty="0">
                <a:solidFill>
                  <a:schemeClr val="tx1"/>
                </a:solidFill>
                <a:latin typeface="Arial" panose="020B0604020202020204" pitchFamily="34" charset="0"/>
              </a:rPr>
              <a:t> Integrated 5 isolated datasets (Specifications, Navigation, Environment, Fuel, and Maintenance).</a:t>
            </a:r>
          </a:p>
          <a:p>
            <a:pPr marL="0" lvl="0" indent="0" defTabSz="914400" eaLnBrk="0" fontAlgn="base" hangingPunct="0">
              <a:spcBef>
                <a:spcPct val="0"/>
              </a:spcBef>
              <a:spcAft>
                <a:spcPct val="0"/>
              </a:spcAft>
              <a:buClrTx/>
              <a:buNone/>
            </a:pPr>
            <a:r>
              <a:rPr lang="en-US" altLang="en-US" sz="3200" b="1" dirty="0">
                <a:solidFill>
                  <a:schemeClr val="tx1"/>
                </a:solidFill>
                <a:latin typeface="Arial" panose="020B0604020202020204" pitchFamily="34" charset="0"/>
              </a:rPr>
              <a:t>The Master Dataset:</a:t>
            </a:r>
            <a:r>
              <a:rPr lang="en-US" altLang="en-US" sz="3200" dirty="0">
                <a:solidFill>
                  <a:schemeClr val="tx1"/>
                </a:solidFill>
                <a:latin typeface="Arial" panose="020B0604020202020204" pitchFamily="34" charset="0"/>
              </a:rPr>
              <a:t> Created a unified </a:t>
            </a:r>
            <a:r>
              <a:rPr lang="en-US" altLang="en-US" sz="3200" dirty="0">
                <a:solidFill>
                  <a:schemeClr val="tx1"/>
                </a:solidFill>
                <a:latin typeface="Arial Unicode MS"/>
              </a:rPr>
              <a:t>maritime_master_dataset.csv</a:t>
            </a:r>
            <a:r>
              <a:rPr lang="en-US" altLang="en-US" sz="3200" dirty="0">
                <a:solidFill>
                  <a:schemeClr val="tx1"/>
                </a:solidFill>
              </a:rPr>
              <a:t> for row-level correlation.</a:t>
            </a:r>
            <a:endParaRPr lang="en-US" altLang="en-US" sz="3200" dirty="0">
              <a:solidFill>
                <a:schemeClr val="tx1"/>
              </a:solidFill>
              <a:latin typeface="Arial" panose="020B0604020202020204" pitchFamily="34" charset="0"/>
            </a:endParaRPr>
          </a:p>
          <a:p>
            <a:pPr marL="0" lvl="0" indent="0" defTabSz="914400" eaLnBrk="0" fontAlgn="base" hangingPunct="0">
              <a:spcBef>
                <a:spcPct val="0"/>
              </a:spcBef>
              <a:spcAft>
                <a:spcPct val="0"/>
              </a:spcAft>
              <a:buClrTx/>
              <a:buFontTx/>
              <a:buChar char="•"/>
            </a:pPr>
            <a:r>
              <a:rPr lang="en-US" altLang="en-US" sz="3200" b="1" dirty="0">
                <a:solidFill>
                  <a:schemeClr val="tx1"/>
                </a:solidFill>
                <a:latin typeface="Arial" panose="020B0604020202020204" pitchFamily="34" charset="0"/>
              </a:rPr>
              <a:t>Tool Stack:</a:t>
            </a:r>
            <a:r>
              <a:rPr lang="en-US" altLang="en-US" sz="3200" dirty="0">
                <a:solidFill>
                  <a:schemeClr val="tx1"/>
                </a:solidFill>
                <a:latin typeface="Arial" panose="020B0604020202020204" pitchFamily="34" charset="0"/>
              </a:rPr>
              <a:t> Python, Pandas, Seaborn, Matplotlib</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3974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08C62-A11A-5439-B542-5E7A7032923F}"/>
              </a:ext>
            </a:extLst>
          </p:cNvPr>
          <p:cNvSpPr>
            <a:spLocks noGrp="1"/>
          </p:cNvSpPr>
          <p:nvPr>
            <p:ph type="title"/>
          </p:nvPr>
        </p:nvSpPr>
        <p:spPr>
          <a:xfrm>
            <a:off x="2425699" y="624110"/>
            <a:ext cx="9078913" cy="4366990"/>
          </a:xfrm>
        </p:spPr>
        <p:txBody>
          <a:bodyPr>
            <a:normAutofit fontScale="90000"/>
          </a:bodyPr>
          <a:lstStyle/>
          <a:p>
            <a:r>
              <a:rPr lang="en-IN" sz="4400" b="1" dirty="0">
                <a:latin typeface="Times New Roman" panose="02020603050405020304" pitchFamily="18" charset="0"/>
                <a:cs typeface="Times New Roman" panose="02020603050405020304" pitchFamily="18" charset="0"/>
              </a:rPr>
              <a:t>Datasets Used</a:t>
            </a:r>
            <a:br>
              <a:rPr lang="en-IN" sz="4400" b="1" dirty="0">
                <a:latin typeface="Times New Roman" panose="02020603050405020304" pitchFamily="18" charset="0"/>
                <a:cs typeface="Times New Roman" panose="02020603050405020304" pitchFamily="18" charset="0"/>
              </a:rPr>
            </a:br>
            <a:br>
              <a:rPr lang="en-IN" sz="4400" b="1" dirty="0">
                <a:latin typeface="Times New Roman" panose="02020603050405020304" pitchFamily="18" charset="0"/>
                <a:cs typeface="Times New Roman" panose="02020603050405020304" pitchFamily="18" charset="0"/>
              </a:rPr>
            </a:br>
            <a:br>
              <a:rPr lang="en-IN" b="1" dirty="0"/>
            </a:br>
            <a:r>
              <a:rPr lang="en-IN" b="1" dirty="0"/>
              <a:t>•</a:t>
            </a:r>
            <a:r>
              <a:rPr lang="en-IN" dirty="0">
                <a:latin typeface="Times New Roman" panose="02020603050405020304" pitchFamily="18" charset="0"/>
                <a:cs typeface="Times New Roman" panose="02020603050405020304" pitchFamily="18" charset="0"/>
              </a:rPr>
              <a:t>Ship / Submarine Specifications</a:t>
            </a:r>
            <a:br>
              <a:rPr lang="en-IN" dirty="0">
                <a:latin typeface="Times New Roman" panose="02020603050405020304" pitchFamily="18" charset="0"/>
                <a:cs typeface="Times New Roman" panose="02020603050405020304" pitchFamily="18" charset="0"/>
              </a:rPr>
            </a:br>
            <a:r>
              <a:rPr lang="en-IN" b="1" dirty="0"/>
              <a:t>• </a:t>
            </a:r>
            <a:r>
              <a:rPr lang="en-IN" dirty="0">
                <a:latin typeface="Times New Roman" panose="02020603050405020304" pitchFamily="18" charset="0"/>
                <a:cs typeface="Times New Roman" panose="02020603050405020304" pitchFamily="18" charset="0"/>
              </a:rPr>
              <a:t>Navigation Logs</a:t>
            </a:r>
            <a:br>
              <a:rPr lang="en-IN" dirty="0">
                <a:latin typeface="Times New Roman" panose="02020603050405020304" pitchFamily="18" charset="0"/>
                <a:cs typeface="Times New Roman" panose="02020603050405020304" pitchFamily="18" charset="0"/>
              </a:rPr>
            </a:br>
            <a:r>
              <a:rPr lang="en-IN" b="1" dirty="0"/>
              <a:t>• </a:t>
            </a:r>
            <a:r>
              <a:rPr lang="en-IN" dirty="0">
                <a:latin typeface="Times New Roman" panose="02020603050405020304" pitchFamily="18" charset="0"/>
                <a:cs typeface="Times New Roman" panose="02020603050405020304" pitchFamily="18" charset="0"/>
              </a:rPr>
              <a:t>Environmental Conditions</a:t>
            </a:r>
            <a:br>
              <a:rPr lang="en-IN" dirty="0">
                <a:latin typeface="Times New Roman" panose="02020603050405020304" pitchFamily="18" charset="0"/>
                <a:cs typeface="Times New Roman" panose="02020603050405020304" pitchFamily="18" charset="0"/>
              </a:rPr>
            </a:br>
            <a:r>
              <a:rPr lang="en-IN" b="1" dirty="0"/>
              <a:t>• </a:t>
            </a:r>
            <a:r>
              <a:rPr lang="en-IN" dirty="0">
                <a:latin typeface="Times New Roman" panose="02020603050405020304" pitchFamily="18" charset="0"/>
                <a:cs typeface="Times New Roman" panose="02020603050405020304" pitchFamily="18" charset="0"/>
              </a:rPr>
              <a:t>Fuel Consumption Logs</a:t>
            </a:r>
            <a:br>
              <a:rPr lang="en-IN" dirty="0">
                <a:latin typeface="Times New Roman" panose="02020603050405020304" pitchFamily="18" charset="0"/>
                <a:cs typeface="Times New Roman" panose="02020603050405020304" pitchFamily="18" charset="0"/>
              </a:rPr>
            </a:br>
            <a:r>
              <a:rPr lang="en-IN" b="1" dirty="0"/>
              <a:t>• </a:t>
            </a:r>
            <a:r>
              <a:rPr lang="en-IN" dirty="0">
                <a:latin typeface="Times New Roman" panose="02020603050405020304" pitchFamily="18" charset="0"/>
                <a:cs typeface="Times New Roman" panose="02020603050405020304" pitchFamily="18" charset="0"/>
              </a:rPr>
              <a:t>Maintenance &amp; Incident Records</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29572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B7AED-6F45-B2DE-A1B6-48ED8A3327F7}"/>
              </a:ext>
            </a:extLst>
          </p:cNvPr>
          <p:cNvSpPr>
            <a:spLocks noGrp="1"/>
          </p:cNvSpPr>
          <p:nvPr>
            <p:ph type="title"/>
          </p:nvPr>
        </p:nvSpPr>
        <p:spPr>
          <a:xfrm>
            <a:off x="2209801" y="624110"/>
            <a:ext cx="9294812" cy="4328890"/>
          </a:xfrm>
        </p:spPr>
        <p:txBody>
          <a:bodyPr>
            <a:normAutofit fontScale="90000"/>
          </a:bodyPr>
          <a:lstStyle/>
          <a:p>
            <a:r>
              <a:rPr lang="en-US" sz="4400" b="1" dirty="0">
                <a:latin typeface="Times New Roman" panose="02020603050405020304" pitchFamily="18" charset="0"/>
                <a:cs typeface="Times New Roman" panose="02020603050405020304" pitchFamily="18" charset="0"/>
              </a:rPr>
              <a:t>Sea-Route Risk Assessment</a:t>
            </a:r>
            <a:br>
              <a:rPr lang="en-US" sz="4400" b="1" dirty="0">
                <a:latin typeface="Times New Roman" panose="02020603050405020304" pitchFamily="18" charset="0"/>
                <a:cs typeface="Times New Roman" panose="02020603050405020304" pitchFamily="18" charset="0"/>
              </a:rPr>
            </a:br>
            <a:br>
              <a:rPr lang="en-US" b="1" dirty="0"/>
            </a:br>
            <a:r>
              <a:rPr lang="en-IN" b="1" dirty="0"/>
              <a:t>•</a:t>
            </a:r>
            <a:r>
              <a:rPr lang="en-US" dirty="0">
                <a:latin typeface="Times New Roman" panose="02020603050405020304" pitchFamily="18" charset="0"/>
                <a:cs typeface="Times New Roman" panose="02020603050405020304" pitchFamily="18" charset="0"/>
              </a:rPr>
              <a:t>Environmental risk (waves, wind, storms)</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Navigation difficulty</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Historical incidents</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Routes classified as:</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Low Risk</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Medium Risk</a:t>
            </a:r>
            <a:br>
              <a:rPr lang="en-US"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High Risk</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97628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5925587-0A2D-55EE-44F7-19271FC17C5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2925" y="1168400"/>
            <a:ext cx="6893975" cy="4743450"/>
          </a:xfrm>
        </p:spPr>
      </p:pic>
    </p:spTree>
    <p:extLst>
      <p:ext uri="{BB962C8B-B14F-4D97-AF65-F5344CB8AC3E}">
        <p14:creationId xmlns:p14="http://schemas.microsoft.com/office/powerpoint/2010/main" val="2655808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4BCA444-568C-1E37-16AC-BEA3B7E3B25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03500" y="266700"/>
            <a:ext cx="7466013" cy="5645150"/>
          </a:xfrm>
        </p:spPr>
      </p:pic>
    </p:spTree>
    <p:extLst>
      <p:ext uri="{BB962C8B-B14F-4D97-AF65-F5344CB8AC3E}">
        <p14:creationId xmlns:p14="http://schemas.microsoft.com/office/powerpoint/2010/main" val="630156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FA395-0CD5-EAD6-F077-D3F70429877C}"/>
              </a:ext>
            </a:extLst>
          </p:cNvPr>
          <p:cNvSpPr>
            <a:spLocks noGrp="1"/>
          </p:cNvSpPr>
          <p:nvPr>
            <p:ph type="title"/>
          </p:nvPr>
        </p:nvSpPr>
        <p:spPr>
          <a:xfrm>
            <a:off x="6007100" y="763810"/>
            <a:ext cx="4367212" cy="1280890"/>
          </a:xfrm>
        </p:spPr>
        <p:txBody>
          <a:bodyPr/>
          <a:lstStyle/>
          <a:p>
            <a:endParaRPr lang="en-IN" dirty="0"/>
          </a:p>
        </p:txBody>
      </p:sp>
      <p:pic>
        <p:nvPicPr>
          <p:cNvPr id="5" name="Content Placeholder 4">
            <a:extLst>
              <a:ext uri="{FF2B5EF4-FFF2-40B4-BE49-F238E27FC236}">
                <a16:creationId xmlns:a16="http://schemas.microsoft.com/office/drawing/2014/main" id="{41CBCCBA-B544-3F11-0FC6-8C6E35AFF02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25700" y="337090"/>
            <a:ext cx="8191499" cy="5574760"/>
          </a:xfrm>
        </p:spPr>
      </p:pic>
    </p:spTree>
    <p:extLst>
      <p:ext uri="{BB962C8B-B14F-4D97-AF65-F5344CB8AC3E}">
        <p14:creationId xmlns:p14="http://schemas.microsoft.com/office/powerpoint/2010/main" val="2810151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EE0EB-C94F-993C-2FDD-C09A630980B5}"/>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Key Results &amp; Insights</a:t>
            </a:r>
          </a:p>
        </p:txBody>
      </p:sp>
      <p:sp>
        <p:nvSpPr>
          <p:cNvPr id="4" name="Rectangle 1">
            <a:extLst>
              <a:ext uri="{FF2B5EF4-FFF2-40B4-BE49-F238E27FC236}">
                <a16:creationId xmlns:a16="http://schemas.microsoft.com/office/drawing/2014/main" id="{3B3E5D22-B58F-32CA-3D5D-92E1599643CF}"/>
              </a:ext>
            </a:extLst>
          </p:cNvPr>
          <p:cNvSpPr>
            <a:spLocks noGrp="1" noChangeArrowheads="1"/>
          </p:cNvSpPr>
          <p:nvPr>
            <p:ph idx="1"/>
          </p:nvPr>
        </p:nvSpPr>
        <p:spPr bwMode="auto">
          <a:xfrm>
            <a:off x="1854200" y="2248228"/>
            <a:ext cx="8369300"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Weather Sensitivity</a:t>
            </a:r>
            <a:endParaRPr lang="en-US" altLang="en-US" sz="28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Fuel vs. Load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Maintenance Burden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Tactical Safety</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429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BAFC9-BDF0-29F5-7B23-7EDDD0269AF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F13CB90-B509-1FB9-A732-3FD160F72E94}"/>
              </a:ext>
            </a:extLst>
          </p:cNvPr>
          <p:cNvSpPr>
            <a:spLocks noGrp="1"/>
          </p:cNvSpPr>
          <p:nvPr>
            <p:ph idx="1"/>
          </p:nvPr>
        </p:nvSpPr>
        <p:spPr/>
        <p:txBody>
          <a:bodyPr>
            <a:noAutofit/>
          </a:bodyPr>
          <a:lstStyle/>
          <a:p>
            <a:r>
              <a:rPr lang="en-US" sz="2400" dirty="0">
                <a:latin typeface="Times New Roman" panose="02020603050405020304" pitchFamily="18" charset="0"/>
                <a:cs typeface="Times New Roman" panose="02020603050405020304" pitchFamily="18" charset="0"/>
              </a:rPr>
              <a:t>This project analyzes maritime vessel performance and sea-route risks using integrated marine datasets. By combining navigation, environmental, fuel, and maintenance data, key performance and risk indicators were calculated. The analysis shows how weather conditions, fuel usage, and vessel operations impact efficiency, delays, and route safety. The developed models help identify fuel-efficient operations, high-risk routes, and maintenance-prone vessels. Overall, the project demonstrates how data analytics can support better decision-making in maritime operations without using machine learning.</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343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ED1246-A308-806B-7E83-ABE0D841241B}"/>
              </a:ext>
            </a:extLst>
          </p:cNvPr>
          <p:cNvSpPr>
            <a:spLocks noGrp="1"/>
          </p:cNvSpPr>
          <p:nvPr>
            <p:ph idx="1"/>
          </p:nvPr>
        </p:nvSpPr>
        <p:spPr/>
        <p:txBody>
          <a:bodyPr>
            <a:normAutofit/>
          </a:bodyPr>
          <a:lstStyle/>
          <a:p>
            <a:pPr marL="0" indent="0">
              <a:buNone/>
            </a:pPr>
            <a:r>
              <a:rPr lang="en-IN" sz="9600" dirty="0">
                <a:latin typeface="Times New Roman" panose="02020603050405020304" pitchFamily="18" charset="0"/>
                <a:cs typeface="Times New Roman" panose="02020603050405020304" pitchFamily="18" charset="0"/>
              </a:rPr>
              <a:t>THANKYOU</a:t>
            </a:r>
          </a:p>
          <a:p>
            <a:pPr marL="0" indent="0">
              <a:buNone/>
            </a:pPr>
            <a:endParaRPr lang="en-IN" sz="9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124804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TotalTime>
  <Words>307</Words>
  <Application>Microsoft Office PowerPoint</Application>
  <PresentationFormat>Widescreen</PresentationFormat>
  <Paragraphs>22</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Arial Unicode MS</vt:lpstr>
      <vt:lpstr>Century Gothic</vt:lpstr>
      <vt:lpstr>Times New Roman</vt:lpstr>
      <vt:lpstr>Wingdings 3</vt:lpstr>
      <vt:lpstr>Wisp</vt:lpstr>
      <vt:lpstr>Maritime Performance Analytics &amp; Sea-Route Risk Assessment  •Internship Project at Flipkart Pvt. Ltd •Presented by: Vajja Sri Nikitha •Date:-20-1-2026 </vt:lpstr>
      <vt:lpstr>Project Overview</vt:lpstr>
      <vt:lpstr>Data Integration </vt:lpstr>
      <vt:lpstr>Datasets Used   •Ship / Submarine Specifications • Navigation Logs • Environmental Conditions • Fuel Consumption Logs • Maintenance &amp; Incident Records </vt:lpstr>
      <vt:lpstr>Sea-Route Risk Assessment  •Environmental risk (waves, wind, storms) • Navigation difficulty • Historical incidents • Routes classified as: • Low Risk • Medium Risk • High Risk </vt:lpstr>
      <vt:lpstr>PowerPoint Presentation</vt:lpstr>
      <vt:lpstr>PowerPoint Presentation</vt:lpstr>
      <vt:lpstr>PowerPoint Presentation</vt:lpstr>
      <vt:lpstr>Key Results &amp; Insights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vajja sri nikitha</dc:creator>
  <cp:lastModifiedBy>vajja sri nikitha</cp:lastModifiedBy>
  <cp:revision>1</cp:revision>
  <dcterms:created xsi:type="dcterms:W3CDTF">2026-01-20T10:54:33Z</dcterms:created>
  <dcterms:modified xsi:type="dcterms:W3CDTF">2026-01-20T11:13:35Z</dcterms:modified>
</cp:coreProperties>
</file>